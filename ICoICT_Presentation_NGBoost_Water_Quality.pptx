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Probabilistic Water Potability Prediction</a:t>
            </a:r>
            <a:br/>
            <a:r>
              <a:t>Using Natural Gradient Boosting</a:t>
            </a:r>
            <a:br/>
            <a:r>
              <a:t>with Uncertainty Quantification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3383280"/>
            <a:ext cx="393192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</a:defRPr>
            </a:pPr>
            <a:r>
              <a:t>Muhammad Aflah Zaki  |  Irma Palupi S.T., M.T., OCA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D5A8C"/>
                </a:solidFill>
              </a:defRPr>
            </a:pPr>
            <a:r>
              <a:t>School of Computing, Telkom University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D4A537"/>
                </a:solidFill>
              </a:defRPr>
            </a:pPr>
            <a:r>
              <a:t>ICoICT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Presentation Outline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1. Introduction &amp; Research Objectives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2. Related Work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3. Dataset &amp; Preprocessing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4. Methodology: NGBoost Architecture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5. Experimental Results &amp; Analysis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6. Uncertainty Quantification &amp; Calibration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7. Practical Implications</a:t>
            </a:r>
          </a:p>
          <a:p>
            <a:pPr>
              <a:spcAft>
                <a:spcPts val="800"/>
              </a:spcAft>
              <a:defRPr sz="2200">
                <a:solidFill>
                  <a:srgbClr val="1A1A2E"/>
                </a:solidFill>
              </a:defRPr>
            </a:pPr>
            <a:r>
              <a:t>8. 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The Global Water Quality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2 billion people lack access to safely managed drinking water (WHO/UNICEF 2023)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Waterborne diseases cause ~485,000 diarrheal deaths annually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Traditional testing: laboratory-intensive, time-consuming, costly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ML models can predict potability but lack uncertainty quantification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Critical gap: point predictions without confidence are inadequate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  for public health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Research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Objective 1: Develop a probabilistic classification framework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  using NGBoost for water potability prediction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Objective 2: Evaluate uncertainty quantification capabilities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  through confidence zones and calibration analysis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• Objective 3: Compare NGBoost against XGBoost and Random Forest</a:t>
            </a:r>
          </a:p>
          <a:p>
            <a:pPr>
              <a:spcAft>
                <a:spcPts val="800"/>
              </a:spcAft>
              <a:defRPr sz="1800">
                <a:solidFill>
                  <a:srgbClr val="1A1A2E"/>
                </a:solidFill>
              </a:defRPr>
            </a:pPr>
            <a:r>
              <a:t>  with statistical significance testing (McNemar's test)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Related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Key References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Duan et al. (2020) - NGBoost: Natural Gradient Boosting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for probabilistic prediction via natural gradients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Ahmed et al. (2022) - ML approaches for water quality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classification using physicochemical parameters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Kadiwal (2020) - Water Potability dataset on Kaggle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with 3,276 samples and 9 features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Gap: No prior work applies probabilistic models with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uncertainty quantification to water potability prediction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Kaggle Water Potability Dataset (Kadiwal, 2020)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Total samples: 3,276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Features: 9 physicochemical parameters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Class distribution: 60.99% Non-Potable / 39.01% Potable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Features: pH, Hardness, Solids, Chloramines, Sulfate,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Conductivity, Organic Carbon, Trihalomethanes, Turbidity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Missing values: pH (14.99%), Sulfate (23.84%),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Trihalomethanes (4.95%)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Dataset Visualizations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Class Distribution &amp; Missing Values</a:t>
            </a:r>
          </a:p>
        </p:txBody>
      </p:sp>
      <p:pic>
        <p:nvPicPr>
          <p:cNvPr id="6" name="Picture 5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5486400" cy="3602939"/>
          </a:xfrm>
          <a:prstGeom prst="rect">
            <a:avLst/>
          </a:prstGeom>
        </p:spPr>
      </p:pic>
      <p:pic>
        <p:nvPicPr>
          <p:cNvPr id="7" name="Picture 6" descr="missing_val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645920"/>
            <a:ext cx="5486400" cy="26855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Preprocessing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Step 1: MICE Imputation (Multivariate Imputation by Chained Equations)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- Handles missing values in pH, Sulfate, Trihalomethanes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Step 2: Stratified Train/Val/Test Split (70/15/15)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- Train: 2292 | Val: 492 | Test: 492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Step 3: StandardScaler normalization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Step 4: SMOTE-ENN evaluation (rejected due to degradation)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- Combined oversampling + undersampling approach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- Resulted in -7% to -11% accuracy loss across all models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SMOTE-ENN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Performance Degradation Analysis</a:t>
            </a:r>
          </a:p>
        </p:txBody>
      </p:sp>
      <p:pic>
        <p:nvPicPr>
          <p:cNvPr id="6" name="Picture 5" descr="smote_en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554480"/>
            <a:ext cx="6400800" cy="39439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0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NGBoost: -11.0%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XGBoost: -8.7%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Random Forest: -7.3%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Decision: Do NOT apply SMOTE-ENN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NGBoost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Natural Gradient Boosting for Probabilistic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Base Distribution: Bernoulli (binary classification)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Scoring Rule: Negative Log-Likelihood (NLL)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L(theta) = -log P(y | theta)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Natural Gradient: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g_nat = F^(-1) * 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where F = Fisher Information Matrix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Parameter Update: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theta_(t+1) = theta_t - rho * g_nat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Output: Full probability distribution P(potable|x)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enabling uncertainty quantification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Baselines &amp; Evaluation Metrics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Baseline Models: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XGBoost (gradient boosting with log loss)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Random Forest (ensemble of decision trees)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Classification Metrics: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Accuracy, Precision, Recall, F1-Score, AUC-ROC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Probabilistic Metrics: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Negative Log-Likelihood (NLL)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Expected Calibration Error (ECE)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Statistical Testing: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McNemar's test for pairwise significance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Performance Comparison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Full Results on Test Set (n=492)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94183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  <a:gridCol w="2354580"/>
                <a:gridCol w="2354580"/>
              </a:tblGrid>
              <a:tr h="5715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NGBoost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0.6585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0.6667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0.6337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0.6304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0.2812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0.3333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0.3021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0.3956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0.4369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0.4085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AUC-ROC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0.6506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0.6671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NLL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0.6728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0.6238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0.6182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ECE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0.0686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0.0576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0.0423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ROC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AUC Comparison Across Models</a:t>
            </a:r>
          </a:p>
        </p:txBody>
      </p:sp>
      <p:pic>
        <p:nvPicPr>
          <p:cNvPr id="6" name="Picture 5" descr="roc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229600" cy="612374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Confusion Matrices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All Three Models</a:t>
            </a:r>
          </a:p>
        </p:txBody>
      </p:sp>
      <p:pic>
        <p:nvPicPr>
          <p:cNvPr id="6" name="Picture 5" descr="confusion_matri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463040"/>
            <a:ext cx="9144000" cy="256498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McNemar's Test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Statistical Significance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Purpose: Test whether models have significantly different error rates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NGBoost vs XGBoost: chi2 = 0.0143, p = 0.9049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Result: NOT significant (p &gt; 0.05)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NGBoost vs Random Forest: chi2 = 0.0702, p = 0.7911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Result: NOT significant (p &gt; 0.05)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XGBoost vs Random Forest: chi2 = 0.0930, p = 0.7604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Result: NOT significant (p &gt; 0.05)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Conclusion: All three models perform comparably in accuracy,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differentiator lies in uncertainty quantification capabilities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Probability Distributions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Predicted Probability Spread by Model</a:t>
            </a:r>
          </a:p>
        </p:txBody>
      </p:sp>
      <p:pic>
        <p:nvPicPr>
          <p:cNvPr id="6" name="Picture 5" descr="probability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229600" cy="268410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Confidence Discrimination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High-Confidence Zone Analysis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645920"/>
          <a:ext cx="103327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/>
                <a:gridCol w="2066544"/>
                <a:gridCol w="2066544"/>
                <a:gridCol w="2066544"/>
                <a:gridCol w="2066544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Zone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Range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NGBoost (n)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XGBoost (n)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RF (n)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Zone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P &lt; 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Zone 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0.2 - 0.4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222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243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251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Zone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0.4 - 0.6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182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Zone 4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0.6 - 0.8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Zone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P &gt;= 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1A1A2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0292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NGBoost assigns 97 samples to Zone 1 (high non-potable confidence) vs RF's 19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NGBoost + XGBoost: broader probability spread for better discrimination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• Key advantage: actionable confidence levels for decision-making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Uncertainty Zones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NGBoost vs Random Forest Comparison</a:t>
            </a:r>
          </a:p>
        </p:txBody>
      </p:sp>
      <p:pic>
        <p:nvPicPr>
          <p:cNvPr id="6" name="Picture 5" descr="uncertainty_z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229600" cy="267579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Calibration Curves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Expected Calibration Error (ECE) Comparison</a:t>
            </a:r>
          </a:p>
        </p:txBody>
      </p:sp>
      <p:pic>
        <p:nvPicPr>
          <p:cNvPr id="6" name="Picture 5" descr="calibration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315200" cy="5443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201168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ECE Scores: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  RF: 0.0423 (best)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  XGBoost: 0.0576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  NGBoost: 0.0686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Trade-off: NGBoost has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slightly higher ECE but</a:t>
            </a:r>
          </a:p>
          <a:p>
            <a:pPr>
              <a:spcAft>
                <a:spcPts val="800"/>
              </a:spcAft>
              <a:defRPr sz="1500">
                <a:solidFill>
                  <a:srgbClr val="1A1A2E"/>
                </a:solidFill>
              </a:defRPr>
            </a:pPr>
            <a:r>
              <a:t>better confidence spread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Feature Importance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XGBoost &amp; Random Forest Feature Rankings</a:t>
            </a:r>
          </a:p>
        </p:txBody>
      </p:sp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463040"/>
            <a:ext cx="8229600" cy="336618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XGBoost Training Convergence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Loss Curve During Training</a:t>
            </a:r>
          </a:p>
        </p:txBody>
      </p:sp>
      <p:pic>
        <p:nvPicPr>
          <p:cNvPr id="6" name="Picture 5" descr="xgboost_loss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315200" cy="45120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Practical Implications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Real-World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Use Case 1: Automated Water Treatment Prioritization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Zone 1 samples (high non-potable confidence) flagged for immediate treatment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Reduces response time for contaminated water sources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Use Case 2: Resource-Efficient Laboratory Testing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Zone 3 samples (uncertain) prioritized for confirmatory lab tests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Optimizes allocation of expensive testing resources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• Use Case 3: Early Warning Systems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Continuous monitoring with confidence-aware alerts</a:t>
            </a:r>
          </a:p>
          <a:p>
            <a:pPr>
              <a:spcAft>
                <a:spcPts val="800"/>
              </a:spcAft>
              <a:defRPr sz="1700">
                <a:solidFill>
                  <a:srgbClr val="1A1A2E"/>
                </a:solidFill>
              </a:defRPr>
            </a:pPr>
            <a:r>
              <a:t>  - Threshold-based escalation using probability zones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2286000" cy="45720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5A8C"/>
                </a:solidFill>
              </a:defRPr>
            </a:pPr>
            <a:r>
              <a:t>Key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Finding 1: NGBoost achieves competitive accuracy (66.46%) while providing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full probabilistic outputs - no statistical difference from baselines (McNemar p&gt;0.05)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Finding 2: NGBoost demonstrates superior confidence discrimination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- 97 samples in Zone 1 vs RF's 19 (5x more high-confidence predictions)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- Enables practical decision-making with actionable confidence levels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Finding 3: SMOTE-ENN resampling is counterproductive for this dataset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- Degraded all models by 7-11% accuracy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- Class imbalance handled better through threshold optimization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• Key Contribution: First application of probabilistic ML with uncertainty</a:t>
            </a:r>
          </a:p>
          <a:p>
            <a:pPr>
              <a:spcAft>
                <a:spcPts val="800"/>
              </a:spcAft>
              <a:defRPr sz="1600">
                <a:solidFill>
                  <a:srgbClr val="1A1A2E"/>
                </a:solidFill>
              </a:defRPr>
            </a:pPr>
            <a:r>
              <a:t>  quantification to water potability prediction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Integrate counterfactual explanations for prescriptive analytics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Extend to multi-class water quality indices (WQI)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Deploy as real-time monitoring system with streaming data</a:t>
            </a:r>
          </a:p>
          <a:p>
            <a:pPr>
              <a:spcAft>
                <a:spcPts val="800"/>
              </a:spcAft>
              <a:defRPr sz="1700">
                <a:solidFill>
                  <a:srgbClr val="FFFFFF"/>
                </a:solidFill>
              </a:defRPr>
            </a:pPr>
            <a:r>
              <a:t>• Explore conformal prediction for distribution-free guarantees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3931920"/>
            <a:ext cx="5760720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D4A537"/>
                </a:solidFill>
              </a:defRPr>
            </a:pPr>
            <a: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D5A8C"/>
                </a:solidFill>
              </a:defRPr>
            </a:pPr>
            <a:r>
              <a:t>aflahzaki@student.telkomuniversity.ac.id  |  irmapalupi@telkomuniversity.ac.id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